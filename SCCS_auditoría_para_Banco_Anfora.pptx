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265" r:id="rId4"/>
    <p:sldId id="258" r:id="rId5"/>
    <p:sldId id="256" r:id="rId6"/>
    <p:sldId id="261" r:id="rId7"/>
    <p:sldId id="263" r:id="rId8"/>
    <p:sldId id="259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9766" autoAdjust="0"/>
  </p:normalViewPr>
  <p:slideViewPr>
    <p:cSldViewPr snapToGrid="0" showGuides="1">
      <p:cViewPr varScale="1">
        <p:scale>
          <a:sx n="58" d="100"/>
          <a:sy n="58" d="100"/>
        </p:scale>
        <p:origin x="88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41CEB7-E684-4956-887E-6A3B48AFF1C6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254D6-FDEB-4783-8E19-1E3B8864C45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1020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KL M4 || M2 = 0.238</a:t>
            </a:r>
            <a:br>
              <a:rPr lang="es-ES" dirty="0"/>
            </a:br>
            <a:r>
              <a:rPr lang="es-ES" dirty="0"/>
              <a:t>Mide cuánto se diferencia la posterior de M4 respecto de M2.</a:t>
            </a:r>
          </a:p>
          <a:p>
            <a:r>
              <a:rPr lang="es-ES" b="1" dirty="0"/>
              <a:t>KL M2 || M4 = 0.255</a:t>
            </a:r>
            <a:br>
              <a:rPr lang="es-ES" dirty="0"/>
            </a:br>
            <a:r>
              <a:rPr lang="es-ES" dirty="0"/>
              <a:t>Mide lo inverso. Es parecido al anterior, entonces la diferencia entre ambas distribuciones es bastante simétrica: ninguna tiene una cola o forma radicalmente distinta que la otra no capture.</a:t>
            </a:r>
          </a:p>
          <a:p>
            <a:r>
              <a:rPr lang="es-ES" b="1" dirty="0"/>
              <a:t>KL simetrizada = 0.493</a:t>
            </a:r>
            <a:br>
              <a:rPr lang="es-ES" dirty="0"/>
            </a:br>
            <a:r>
              <a:rPr lang="es-ES" dirty="0"/>
              <a:t>Resume la distancia en ambos sentidos. No es enorme, pero tampoco cero. Refuerza esta lectura: </a:t>
            </a:r>
            <a:r>
              <a:rPr lang="es-ES" b="1" dirty="0"/>
              <a:t>M4 está algo desplazado a la derecha de M2, pero con bastante solapamiento</a:t>
            </a:r>
            <a:r>
              <a:rPr lang="es-ES" dirty="0"/>
              <a:t>.</a:t>
            </a: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254D6-FDEB-4783-8E19-1E3B8864C45A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447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254D6-FDEB-4783-8E19-1E3B8864C45A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6044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54B74-4DC5-F083-0C24-C0D00D70C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A13E0C-C2CA-1988-CB4D-4D55FD4D2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975C3F-CDB6-67EA-9E40-3021E8E44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0E0042-EFFF-113A-C0B2-746DB596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EC3530-38F7-D836-6BC9-E1C4CC1ED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8111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5F07C-9771-BCF1-C03B-F171817B2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1DA68C-6760-12DA-5360-288330054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B5445-C9FE-E9C8-290F-D3068F02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3DA98-56BB-7BE8-4D61-98F198AB0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22975A-0E8F-8379-A8F0-3139E538B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358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3DBF7-03B4-7B90-FD00-C4897E96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2F24455-5333-FC78-95F0-96FA82D4F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74FF0-CC43-CEB2-DA25-BBE06042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E81E45-3761-0ADE-6737-70A685F19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F6224-6B22-5BB7-2C93-12D9D9E6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7355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C7E32-66F3-2FCD-1A38-7DD5DC12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63D5409-9EB7-D1F9-4892-0B8BE20E0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D8B447-BCE6-A398-D8D1-2440DA9B7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E1A0C6-DAD1-3AB5-9024-18A480813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CB2667-54DC-C055-A8B7-47FBA870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4000D9-A3DD-B66E-A728-ED0B4B94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578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BBD20-45E1-EAA4-212C-CA622689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AD91B9-E681-D49E-5059-DD7D24854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BE830B-3891-B6A6-922C-372F545AE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6353F7-D34B-6A2B-24F2-3C52FC476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8A25F2-D1FB-B3F9-43BE-66153131F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7CCC67-D0D8-9DD1-6B22-B88ABB9E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10F649-23B4-F942-48B8-DD251A07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532761C-1806-F059-4315-B4379C6C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4765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A84FE-478E-8EEE-AE05-D6219BE5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7AB989-41BB-5E18-CFE3-3BDADDA3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5E512B-9FC3-BD2D-78AC-17C99B5C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DA3AFB-2B3A-D081-C201-F0B92A9A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747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31759B-CD54-F334-1A05-260137D0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94D780-5798-0D86-88B7-5C4BCE9A6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C9E7FE-9B47-2C1F-FFBC-FD4F4F9E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9735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748D9-1039-AA3C-F9B9-04267404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785E81-7188-BC4E-4349-9C4052A1C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A94F68-B395-2FBA-7971-5BC85B8C7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F33736-61FB-F714-E9DE-26A47080A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DA236B-C88E-D860-6041-96014D26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303ECA-9D68-B25A-2714-3B86EE8C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2321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0B6A9-5A94-B579-8950-34511B63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D5BF62-05FD-CA8B-1066-1B47E42B2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EC789F-FAB9-1CCB-E63D-D3EF5F02E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625A16-D814-960E-648C-BE481F27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6A5BD6-7FA9-C96C-D6E0-FC45F9C14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7D0691-D7E6-AF41-6C5A-9CECA452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317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B0AF3-6FDD-7928-1F27-88CBBE8A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10F5D9-8CB2-C270-13C7-3B2EEBC13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E86AB3-8651-AE11-B4F1-EF8FBE765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5853C0-0ED3-1B15-92AF-E7BAF9CD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761E3-7A90-D0C8-B12E-9EB7A76A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726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F7D1F54-55BB-D0FB-1A5B-5A5712EA6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DF9C87-029D-242E-19F7-0C4899715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0A6D73-E4BE-1E18-6A3E-AAE1C26A4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B5756E-BC88-B7DC-7931-2C851BAB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45820C-1161-CE5D-C7AF-0B80DEDB6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EB5C243-BD26-54BE-14C7-0890B168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C9BE1B-3104-3634-8E52-96EB13394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4A41D7-83CC-0019-DEAD-4485A8C1E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4435E-D131-47F2-9BFE-7096E693762E}" type="datetimeFigureOut">
              <a:rPr lang="es-AR" smtClean="0"/>
              <a:t>14/6/2026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926B3E-79A3-4D0F-D203-07996291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38963-C2A7-6A6C-7078-4FF161C0F8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25D80-4836-46E5-9831-FE9D6F7DE9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9802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99722-8D4D-0430-C6A3-0FB38B935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B3033F6-7E06-E37C-FE5C-79443E2F107C}"/>
              </a:ext>
            </a:extLst>
          </p:cNvPr>
          <p:cNvSpPr txBox="1"/>
          <p:nvPr/>
        </p:nvSpPr>
        <p:spPr>
          <a:xfrm>
            <a:off x="2121408" y="982176"/>
            <a:ext cx="7516368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i="1" dirty="0"/>
              <a:t>“Reanálisis bayesiano de un sistema de detección de fraude bajo cambio de distribución por intervención externa”</a:t>
            </a:r>
            <a:endParaRPr lang="es-AR" sz="3200" dirty="0"/>
          </a:p>
          <a:p>
            <a:endParaRPr lang="es-AR" dirty="0"/>
          </a:p>
          <a:p>
            <a:r>
              <a:rPr lang="es-AR" dirty="0"/>
              <a:t>Cliente:</a:t>
            </a:r>
          </a:p>
          <a:p>
            <a:r>
              <a:rPr lang="es-ES" dirty="0"/>
              <a:t>Área de Prevención del Fraude y Lavado de Activos (APFLA) del Banco Ánfora </a:t>
            </a:r>
          </a:p>
          <a:p>
            <a:r>
              <a:rPr lang="es-ES" dirty="0"/>
              <a:t>Comité de Riesgo. </a:t>
            </a:r>
          </a:p>
          <a:p>
            <a:endParaRPr lang="es-ES" dirty="0"/>
          </a:p>
          <a:p>
            <a:r>
              <a:rPr lang="es-ES" dirty="0"/>
              <a:t>Auditoría externa a cargo de</a:t>
            </a:r>
            <a:r>
              <a:rPr lang="es-ES"/>
              <a:t>: SCCS </a:t>
            </a:r>
            <a:r>
              <a:rPr lang="es-ES" dirty="0"/>
              <a:t>Auditores.</a:t>
            </a:r>
          </a:p>
          <a:p>
            <a:r>
              <a:rPr lang="es-ES" dirty="0"/>
              <a:t>Junio 2026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Taller Integrador de Inferencia Bayesiana</a:t>
            </a:r>
          </a:p>
          <a:p>
            <a:r>
              <a:rPr lang="es-ES" dirty="0"/>
              <a:t>Maestría en Minería de Datos, FCEN, UBA</a:t>
            </a:r>
          </a:p>
          <a:p>
            <a:r>
              <a:rPr lang="es-ES" dirty="0"/>
              <a:t>SCCA Auditores integrado por: </a:t>
            </a:r>
          </a:p>
          <a:p>
            <a:r>
              <a:rPr lang="es-ES" dirty="0"/>
              <a:t>Lucas Chicco, Silvana Contreras, Ramiro Santamaría, Sofía </a:t>
            </a:r>
            <a:r>
              <a:rPr lang="es-ES" dirty="0" err="1"/>
              <a:t>Scaiano</a:t>
            </a:r>
            <a:r>
              <a:rPr lang="es-ES" dirty="0"/>
              <a:t>.</a:t>
            </a:r>
            <a:endParaRPr lang="es-AR" dirty="0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64E3CDB7-0F61-4836-06E8-5D2401AE17CA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</p:spTree>
    <p:extLst>
      <p:ext uri="{BB962C8B-B14F-4D97-AF65-F5344CB8AC3E}">
        <p14:creationId xmlns:p14="http://schemas.microsoft.com/office/powerpoint/2010/main" val="189831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6B63AAD-E48B-B89D-BFF3-8364D28024FF}"/>
              </a:ext>
            </a:extLst>
          </p:cNvPr>
          <p:cNvSpPr txBox="1"/>
          <p:nvPr/>
        </p:nvSpPr>
        <p:spPr>
          <a:xfrm>
            <a:off x="2365248" y="1984248"/>
            <a:ext cx="74615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INDICE:</a:t>
            </a:r>
          </a:p>
          <a:p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Sistema auditado: M3 dominante en validación t0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Qué cambió: la trayectoria temporal del F1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Dónde decidir: T0, T1 entero o ventana operativa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Qué modelo domina: evidencia posterior y matriz 5×5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Por qué colapsa el modelo en producción. Variable comprometida</a:t>
            </a:r>
          </a:p>
          <a:p>
            <a:pPr marL="342900" indent="-342900">
              <a:buFont typeface="+mj-lt"/>
              <a:buAutoNum type="arabicPeriod"/>
            </a:pPr>
            <a:r>
              <a:rPr lang="es-ES" dirty="0"/>
              <a:t>Recomendación en 3 horizontes</a:t>
            </a:r>
          </a:p>
          <a:p>
            <a:endParaRPr lang="es-ES" dirty="0"/>
          </a:p>
          <a:p>
            <a:endParaRPr lang="es-ES" dirty="0"/>
          </a:p>
          <a:p>
            <a:endParaRPr lang="es-A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4B9BFEBE-0CB4-2986-811F-026F94910C3E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</p:spTree>
    <p:extLst>
      <p:ext uri="{BB962C8B-B14F-4D97-AF65-F5344CB8AC3E}">
        <p14:creationId xmlns:p14="http://schemas.microsoft.com/office/powerpoint/2010/main" val="3393887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18C2110-ACB5-07F1-76F8-543548042529}"/>
              </a:ext>
            </a:extLst>
          </p:cNvPr>
          <p:cNvSpPr txBox="1"/>
          <p:nvPr/>
        </p:nvSpPr>
        <p:spPr>
          <a:xfrm>
            <a:off x="1145286" y="711446"/>
            <a:ext cx="8732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400" b="1" dirty="0"/>
              <a:t>Sistema auditado: M3 dominante en validación t0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F8CD37-B265-B4F9-870A-2CBDAA4BC7AC}"/>
              </a:ext>
            </a:extLst>
          </p:cNvPr>
          <p:cNvSpPr txBox="1"/>
          <p:nvPr/>
        </p:nvSpPr>
        <p:spPr>
          <a:xfrm>
            <a:off x="1139951" y="5616208"/>
            <a:ext cx="9546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auditoría reconstruye la decisión original: M3 domina T0 con F1≈0,842; el resto se ubica alrededor de 0,21–0,24</a:t>
            </a:r>
            <a:endParaRPr lang="es-A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6683C05-DE1B-D165-BF57-821A35656C18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2D951C-85F9-9697-9B46-CAF31A889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818"/>
          <a:stretch>
            <a:fillRect/>
          </a:stretch>
        </p:blipFill>
        <p:spPr>
          <a:xfrm>
            <a:off x="2369313" y="1636422"/>
            <a:ext cx="6977887" cy="379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90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0CF1C-7414-66D4-82B2-B8369F4E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4B9534-812B-8AFF-5AB2-38682728C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9343" y="1029715"/>
            <a:ext cx="7991857" cy="466191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825C2EB-DA03-9038-E5E2-08C20CB5A87D}"/>
              </a:ext>
            </a:extLst>
          </p:cNvPr>
          <p:cNvSpPr txBox="1"/>
          <p:nvPr/>
        </p:nvSpPr>
        <p:spPr>
          <a:xfrm>
            <a:off x="876304" y="501134"/>
            <a:ext cx="10172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342900" indent="-342900">
              <a:buFont typeface="+mj-lt"/>
              <a:buAutoNum type="arabicPeriod"/>
              <a:defRPr sz="2400" b="1"/>
            </a:lvl1pPr>
          </a:lstStyle>
          <a:p>
            <a:pPr marL="0" indent="0">
              <a:buNone/>
            </a:pPr>
            <a:r>
              <a:rPr lang="es-ES" dirty="0"/>
              <a:t>2. Qué cambió: la trayectoria temporal del F1 revela el cambio de régimen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C92074-7567-ACA3-7F7B-2D568D37FB01}"/>
              </a:ext>
            </a:extLst>
          </p:cNvPr>
          <p:cNvSpPr txBox="1"/>
          <p:nvPr/>
        </p:nvSpPr>
        <p:spPr>
          <a:xfrm>
            <a:off x="1965960" y="5824728"/>
            <a:ext cx="8494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trayectoria mensual muestra que T0 y T1 pertenecen a regímenes distintos. M3 conserva ventaja al inicio del cambio, pero pierde desempeño de forma sostenida; a partir del mes 16 se estabiliza un nuevo orden relativo entre modelos.</a:t>
            </a:r>
            <a:endParaRPr lang="es-AR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75E391D-99C5-B3D5-258A-6CD7CEEC814C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</p:spTree>
    <p:extLst>
      <p:ext uri="{BB962C8B-B14F-4D97-AF65-F5344CB8AC3E}">
        <p14:creationId xmlns:p14="http://schemas.microsoft.com/office/powerpoint/2010/main" val="259786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47254A61-13E7-C48E-1B16-97AB67F309AF}"/>
              </a:ext>
            </a:extLst>
          </p:cNvPr>
          <p:cNvSpPr txBox="1"/>
          <p:nvPr/>
        </p:nvSpPr>
        <p:spPr>
          <a:xfrm>
            <a:off x="880110" y="601718"/>
            <a:ext cx="9241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indent="0">
              <a:buFont typeface="+mj-lt"/>
              <a:buNone/>
              <a:defRPr sz="2400" b="1"/>
            </a:lvl1pPr>
          </a:lstStyle>
          <a:p>
            <a:r>
              <a:rPr lang="es-ES" dirty="0"/>
              <a:t>3. Dónde decidir: La ventana no es t0, ni todo t1, es 16-18</a:t>
            </a:r>
          </a:p>
          <a:p>
            <a:r>
              <a:rPr lang="es-ES" dirty="0"/>
              <a:t>T1 entero mezcla transición y régimen estabilizado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C870BF2-3233-34E3-F3C3-F263DE56F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56"/>
          <a:stretch>
            <a:fillRect/>
          </a:stretch>
        </p:blipFill>
        <p:spPr>
          <a:xfrm>
            <a:off x="1126067" y="1761067"/>
            <a:ext cx="9406466" cy="384888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3294737E-AD6E-A237-C328-08DD0B9F1F24}"/>
              </a:ext>
            </a:extLst>
          </p:cNvPr>
          <p:cNvSpPr txBox="1"/>
          <p:nvPr/>
        </p:nvSpPr>
        <p:spPr>
          <a:xfrm>
            <a:off x="3048000" y="5938303"/>
            <a:ext cx="8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tabla muestra que la conclusión depende críticamente de la ventana elegida. </a:t>
            </a:r>
            <a:endParaRPr lang="es-AR" dirty="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14A2F23-7489-02A4-1B2E-5F3C5C8B4876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</p:spTree>
    <p:extLst>
      <p:ext uri="{BB962C8B-B14F-4D97-AF65-F5344CB8AC3E}">
        <p14:creationId xmlns:p14="http://schemas.microsoft.com/office/powerpoint/2010/main" val="342732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605D280-EF99-489A-BC58-339F58467558}"/>
              </a:ext>
            </a:extLst>
          </p:cNvPr>
          <p:cNvSpPr txBox="1"/>
          <p:nvPr/>
        </p:nvSpPr>
        <p:spPr>
          <a:xfrm>
            <a:off x="1042415" y="448056"/>
            <a:ext cx="10141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indent="0">
              <a:buFont typeface="+mj-lt"/>
              <a:buNone/>
              <a:defRPr sz="2400" b="1"/>
            </a:lvl1pPr>
          </a:lstStyle>
          <a:p>
            <a:r>
              <a:rPr lang="es-ES" dirty="0"/>
              <a:t>4. Qué modelo domina: evidencia bayesiana en ventana operativa 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5C7E102-B414-11F4-16D4-A2F01D6D56A5}"/>
              </a:ext>
            </a:extLst>
          </p:cNvPr>
          <p:cNvSpPr txBox="1"/>
          <p:nvPr/>
        </p:nvSpPr>
        <p:spPr>
          <a:xfrm>
            <a:off x="1296415" y="4378619"/>
            <a:ext cx="30638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En la ventana operativa, la comparación bayesiana confirma que M4 tiene la mayor probabilidad de dominancia. Supera a M1, M3 y M5 casi con certeza, y supera a M2 con 68,5%. La decisión no es determinista: M2 sigue siendo un competidor cercano, pero la evidencia posterior favorece a M4 para julio 2025.</a:t>
            </a:r>
            <a:endParaRPr lang="es-AR" sz="1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F60FDD8-C012-2515-5EB1-1462AF399B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3" t="6153" r="8729" b="1"/>
          <a:stretch>
            <a:fillRect/>
          </a:stretch>
        </p:blipFill>
        <p:spPr>
          <a:xfrm>
            <a:off x="5778499" y="1601433"/>
            <a:ext cx="5405583" cy="428184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CD806C-7A45-C050-5D75-C21D9604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1552479"/>
            <a:ext cx="3564466" cy="259234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61798C6-3F7E-CCAE-B6BB-1B53626B3BAA}"/>
              </a:ext>
            </a:extLst>
          </p:cNvPr>
          <p:cNvSpPr/>
          <p:nvPr/>
        </p:nvSpPr>
        <p:spPr>
          <a:xfrm>
            <a:off x="9303279" y="5883275"/>
            <a:ext cx="2043642" cy="5810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b="1" dirty="0"/>
              <a:t>M4 || M2 = 0.2381685</a:t>
            </a:r>
          </a:p>
          <a:p>
            <a:r>
              <a:rPr lang="pt-BR" sz="1000" b="1" dirty="0"/>
              <a:t>M2 || M4 = 0.2548630</a:t>
            </a:r>
          </a:p>
          <a:p>
            <a:r>
              <a:rPr lang="pt-BR" sz="1000" b="1" dirty="0" err="1"/>
              <a:t>KLsimetrizada</a:t>
            </a:r>
            <a:r>
              <a:rPr lang="pt-BR" sz="1000" b="1" dirty="0"/>
              <a:t> M4-M2 = 0.4930316</a:t>
            </a:r>
            <a:endParaRPr lang="es-AR" sz="60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C6514F4-D4B0-E2BE-E735-FF42554EE3CA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</p:spTree>
    <p:extLst>
      <p:ext uri="{BB962C8B-B14F-4D97-AF65-F5344CB8AC3E}">
        <p14:creationId xmlns:p14="http://schemas.microsoft.com/office/powerpoint/2010/main" val="120071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5B6B-3989-A6F9-19E6-E96B7913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0E8331A-EF3B-40C8-086B-E8E85DB1D53B}"/>
              </a:ext>
            </a:extLst>
          </p:cNvPr>
          <p:cNvSpPr txBox="1"/>
          <p:nvPr/>
        </p:nvSpPr>
        <p:spPr>
          <a:xfrm>
            <a:off x="1207008" y="530353"/>
            <a:ext cx="9003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indent="0">
              <a:buFont typeface="+mj-lt"/>
              <a:buNone/>
              <a:defRPr sz="2400" b="1"/>
            </a:lvl1pPr>
          </a:lstStyle>
          <a:p>
            <a:r>
              <a:rPr lang="es-ES" dirty="0"/>
              <a:t>5. Por qué colapsa el modelo en producción. Variable comprometida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84B22C6-1A8F-24B4-3830-D4571AF9A46A}"/>
              </a:ext>
            </a:extLst>
          </p:cNvPr>
          <p:cNvSpPr txBox="1"/>
          <p:nvPr/>
        </p:nvSpPr>
        <p:spPr>
          <a:xfrm>
            <a:off x="842434" y="5337796"/>
            <a:ext cx="76317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La ventaja de M3 en T0 dependía de una señal histórica de terminal. Bajo el nuevo régimen, esa señal deja de separar fraude y operaciones legítimas; por eso M3 cae mientras M2/M4, que no dependen de esa variable, resultan más robustos.</a:t>
            </a:r>
            <a:endParaRPr lang="es-AR" sz="1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403947-AB39-6064-EAAC-9DBA8C7EF8B2}"/>
              </a:ext>
            </a:extLst>
          </p:cNvPr>
          <p:cNvSpPr txBox="1"/>
          <p:nvPr/>
        </p:nvSpPr>
        <p:spPr>
          <a:xfrm>
            <a:off x="10109210" y="237965"/>
            <a:ext cx="19721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sz="800" dirty="0">
              <a:highlight>
                <a:srgbClr val="FFFF00"/>
              </a:highlight>
            </a:endParaRPr>
          </a:p>
          <a:p>
            <a:r>
              <a:rPr lang="es-AR" sz="800" dirty="0">
                <a:highlight>
                  <a:srgbClr val="FFFF00"/>
                </a:highlight>
              </a:rPr>
              <a:t>eda_auc_numericas_target_por_ventana.png</a:t>
            </a:r>
          </a:p>
          <a:p>
            <a:r>
              <a:rPr lang="es-AR" sz="800" dirty="0">
                <a:highlight>
                  <a:srgbClr val="FFFF00"/>
                </a:highlight>
              </a:rPr>
              <a:t>eda_mixto_terminal_risk_score_por_categorias_y_ventana.png</a:t>
            </a:r>
          </a:p>
          <a:p>
            <a:endParaRPr lang="es-AR" sz="800" dirty="0">
              <a:highlight>
                <a:srgbClr val="FFFF00"/>
              </a:highlight>
            </a:endParaRPr>
          </a:p>
          <a:p>
            <a:endParaRPr lang="es-AR" sz="800" dirty="0">
              <a:highlight>
                <a:srgbClr val="FFFF00"/>
              </a:highlight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9C2D1760-C5E9-C0E8-3CE6-4F7DCC766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052042"/>
              </p:ext>
            </p:extLst>
          </p:nvPr>
        </p:nvGraphicFramePr>
        <p:xfrm>
          <a:off x="9182099" y="2561127"/>
          <a:ext cx="2057402" cy="15544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4134">
                  <a:extLst>
                    <a:ext uri="{9D8B030D-6E8A-4147-A177-3AD203B41FA5}">
                      <a16:colId xmlns:a16="http://schemas.microsoft.com/office/drawing/2014/main" val="4067734910"/>
                    </a:ext>
                  </a:extLst>
                </a:gridCol>
                <a:gridCol w="1583268">
                  <a:extLst>
                    <a:ext uri="{9D8B030D-6E8A-4147-A177-3AD203B41FA5}">
                      <a16:colId xmlns:a16="http://schemas.microsoft.com/office/drawing/2014/main" val="1705219868"/>
                    </a:ext>
                  </a:extLst>
                </a:gridCol>
              </a:tblGrid>
              <a:tr h="244122">
                <a:tc>
                  <a:txBody>
                    <a:bodyPr/>
                    <a:lstStyle/>
                    <a:p>
                      <a:endParaRPr lang="es-A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dirty="0" err="1"/>
                        <a:t>Terminal_risk_score</a:t>
                      </a:r>
                      <a:endParaRPr lang="es-A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501635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r>
                        <a:rPr lang="es-AR" sz="1100" dirty="0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692757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r>
                        <a:rPr lang="es-AR" sz="1100" dirty="0"/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183137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r>
                        <a:rPr lang="es-AR" sz="1100" dirty="0"/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dirty="0"/>
                        <a:t>Sí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049688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r>
                        <a:rPr lang="es-AR" sz="1100" dirty="0"/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433587"/>
                  </a:ext>
                </a:extLst>
              </a:tr>
              <a:tr h="244122">
                <a:tc>
                  <a:txBody>
                    <a:bodyPr/>
                    <a:lstStyle/>
                    <a:p>
                      <a:r>
                        <a:rPr lang="es-AR" sz="1100" dirty="0"/>
                        <a:t>M5-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1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725957"/>
                  </a:ext>
                </a:extLst>
              </a:tr>
            </a:tbl>
          </a:graphicData>
        </a:graphic>
      </p:graphicFrame>
      <p:sp>
        <p:nvSpPr>
          <p:cNvPr id="16" name="Elipse 15">
            <a:extLst>
              <a:ext uri="{FF2B5EF4-FFF2-40B4-BE49-F238E27FC236}">
                <a16:creationId xmlns:a16="http://schemas.microsoft.com/office/drawing/2014/main" id="{4C6BFA8C-83AA-DD1B-BD1D-CB6CD1FD385A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6E714958-E2DA-5312-B36A-C613CD864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34" y="1343724"/>
            <a:ext cx="7967674" cy="364236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B15426D-5AC6-7E4C-84A1-E5FFACD05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196" y="4419595"/>
            <a:ext cx="3505208" cy="204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0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54D94-3BFD-CC90-9502-F77C16A4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9513C9F-5638-441F-0A31-F6371CE0A6ED}"/>
              </a:ext>
            </a:extLst>
          </p:cNvPr>
          <p:cNvSpPr txBox="1"/>
          <p:nvPr/>
        </p:nvSpPr>
        <p:spPr>
          <a:xfrm>
            <a:off x="1136142" y="638062"/>
            <a:ext cx="96537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indent="0">
              <a:buFont typeface="+mj-lt"/>
              <a:buNone/>
              <a:defRPr sz="2400" b="1"/>
            </a:lvl1pPr>
          </a:lstStyle>
          <a:p>
            <a:r>
              <a:rPr lang="es-ES" dirty="0"/>
              <a:t>6. Recomendación al APFLA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184EAF-712A-98B3-FB47-7399C85BEE1C}"/>
              </a:ext>
            </a:extLst>
          </p:cNvPr>
          <p:cNvSpPr txBox="1"/>
          <p:nvPr/>
        </p:nvSpPr>
        <p:spPr>
          <a:xfrm>
            <a:off x="4092321" y="1237501"/>
            <a:ext cx="34620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2. Corto plazo | Monitoreo y reentrenamiento controlado</a:t>
            </a:r>
            <a:br>
              <a:rPr lang="es-ES" dirty="0"/>
            </a:br>
            <a:endParaRPr lang="es-ES" dirty="0"/>
          </a:p>
          <a:p>
            <a:r>
              <a:rPr lang="es-ES" b="1" dirty="0"/>
              <a:t>No automatizar la decisión: monitorear y validar</a:t>
            </a:r>
            <a:endParaRPr lang="es-ES" dirty="0"/>
          </a:p>
          <a:p>
            <a:r>
              <a:rPr lang="es-ES" dirty="0"/>
              <a:t>Monitorear mensualmente F1 posterior y dominancia </a:t>
            </a:r>
            <a:r>
              <a:rPr lang="es-ES" b="1" dirty="0"/>
              <a:t>M4–M2</a:t>
            </a:r>
            <a:r>
              <a:rPr lang="es-ES" dirty="0"/>
              <a:t>. </a:t>
            </a:r>
          </a:p>
          <a:p>
            <a:r>
              <a:rPr lang="es-ES" dirty="0"/>
              <a:t>Seguir el </a:t>
            </a:r>
            <a:r>
              <a:rPr lang="es-ES" dirty="0" err="1"/>
              <a:t>drift</a:t>
            </a:r>
            <a:r>
              <a:rPr lang="es-ES" dirty="0"/>
              <a:t> de </a:t>
            </a:r>
            <a:r>
              <a:rPr lang="es-ES" dirty="0" err="1"/>
              <a:t>terminal_risk_score</a:t>
            </a:r>
            <a:r>
              <a:rPr lang="es-ES" dirty="0"/>
              <a:t> y de </a:t>
            </a:r>
            <a:r>
              <a:rPr lang="es-ES" dirty="0" err="1"/>
              <a:t>monto_log</a:t>
            </a:r>
            <a:r>
              <a:rPr lang="es-ES" dirty="0"/>
              <a:t>. </a:t>
            </a:r>
          </a:p>
          <a:p>
            <a:r>
              <a:rPr lang="es-ES" dirty="0"/>
              <a:t>Reentrenar con T1 etiquetado como </a:t>
            </a:r>
            <a:r>
              <a:rPr lang="es-ES" b="1" dirty="0"/>
              <a:t>ejercicio controlado</a:t>
            </a:r>
            <a:r>
              <a:rPr lang="es-ES" dirty="0"/>
              <a:t>, no como reemplazo automático. </a:t>
            </a:r>
          </a:p>
          <a:p>
            <a:r>
              <a:rPr lang="es-ES" dirty="0"/>
              <a:t>Usar el reentrenamiento como validación adicional de robustez.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410022C-C162-1C65-8CB6-567EE8D462EF}"/>
              </a:ext>
            </a:extLst>
          </p:cNvPr>
          <p:cNvSpPr txBox="1"/>
          <p:nvPr/>
        </p:nvSpPr>
        <p:spPr>
          <a:xfrm>
            <a:off x="7951766" y="1242935"/>
            <a:ext cx="34620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3. Mediano plazo | Sistema adaptativo ante nuevos regímenes</a:t>
            </a:r>
            <a:br>
              <a:rPr lang="es-ES" dirty="0"/>
            </a:br>
            <a:endParaRPr lang="es-ES" dirty="0"/>
          </a:p>
          <a:p>
            <a:r>
              <a:rPr lang="es-ES" b="1" dirty="0"/>
              <a:t>Pasar de un modelo fijo a una arquitectura adaptativa</a:t>
            </a:r>
            <a:endParaRPr lang="es-ES" dirty="0"/>
          </a:p>
          <a:p>
            <a:r>
              <a:rPr lang="es-ES" dirty="0"/>
              <a:t>Modelos por </a:t>
            </a:r>
            <a:r>
              <a:rPr lang="es-ES" b="1" dirty="0"/>
              <a:t>tipo de fraude</a:t>
            </a:r>
            <a:r>
              <a:rPr lang="es-ES" dirty="0"/>
              <a:t>. </a:t>
            </a:r>
          </a:p>
          <a:p>
            <a:r>
              <a:rPr lang="es-ES" b="1" dirty="0" err="1"/>
              <a:t>Clusterización</a:t>
            </a:r>
            <a:r>
              <a:rPr lang="es-ES" dirty="0"/>
              <a:t> para distinguir subtipos operativos. </a:t>
            </a:r>
          </a:p>
          <a:p>
            <a:r>
              <a:rPr lang="es-ES" b="1" dirty="0"/>
              <a:t>Verosimilitudes / LR</a:t>
            </a:r>
            <a:r>
              <a:rPr lang="es-ES" dirty="0"/>
              <a:t> para comparar compatibilidad de una transacción con cada tipo. </a:t>
            </a:r>
          </a:p>
          <a:p>
            <a:r>
              <a:rPr lang="es-ES" b="1" dirty="0" err="1"/>
              <a:t>Surprise</a:t>
            </a:r>
            <a:r>
              <a:rPr lang="es-ES" b="1" dirty="0"/>
              <a:t> score</a:t>
            </a:r>
            <a:r>
              <a:rPr lang="es-ES" dirty="0"/>
              <a:t> para detectar operaciones que no encajan en regímenes conocidos. </a:t>
            </a:r>
          </a:p>
          <a:p>
            <a:r>
              <a:rPr lang="es-ES" dirty="0"/>
              <a:t>Objetivo: detectar más rápido un </a:t>
            </a:r>
            <a:r>
              <a:rPr lang="es-ES" b="1" dirty="0"/>
              <a:t>tercer régimen</a:t>
            </a:r>
            <a:r>
              <a:rPr lang="es-ES" dirty="0"/>
              <a:t>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C273F17-E01F-EC72-CBCD-8B906DEBD1E8}"/>
              </a:ext>
            </a:extLst>
          </p:cNvPr>
          <p:cNvSpPr/>
          <p:nvPr/>
        </p:nvSpPr>
        <p:spPr>
          <a:xfrm>
            <a:off x="10325100" y="393700"/>
            <a:ext cx="1981200" cy="18796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400" b="1" dirty="0"/>
              <a:t>SIN DISEÑO</a:t>
            </a:r>
          </a:p>
          <a:p>
            <a:pPr algn="ctr"/>
            <a:r>
              <a:rPr lang="es-AR" sz="1400" b="1" dirty="0"/>
              <a:t>A PROPÓSITO</a:t>
            </a:r>
          </a:p>
          <a:p>
            <a:pPr algn="ctr"/>
            <a:r>
              <a:rPr lang="es-AR" sz="1400" b="1" dirty="0"/>
              <a:t>ESPERO A QUE CONFIRMEMOS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CE25D26-1ECA-0671-3D6C-7DB06D0C3822}"/>
              </a:ext>
            </a:extLst>
          </p:cNvPr>
          <p:cNvSpPr txBox="1"/>
          <p:nvPr/>
        </p:nvSpPr>
        <p:spPr>
          <a:xfrm>
            <a:off x="403268" y="1294642"/>
            <a:ext cx="34620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b="1" dirty="0"/>
              <a:t>Dictamen inmediato | Julio 2025</a:t>
            </a:r>
            <a:endParaRPr lang="es-AR" dirty="0"/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Modelo recomendado:</a:t>
            </a:r>
            <a:r>
              <a:rPr lang="es-AR" dirty="0"/>
              <a:t> M4 — GBM moderado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Mediana posterior F1:</a:t>
            </a:r>
            <a:r>
              <a:rPr lang="es-AR" dirty="0"/>
              <a:t> </a:t>
            </a:r>
            <a:r>
              <a:rPr lang="es-AR" b="1" dirty="0"/>
              <a:t>0.321</a:t>
            </a:r>
            <a:r>
              <a:rPr lang="es-A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HPDI 95%:</a:t>
            </a:r>
            <a:r>
              <a:rPr lang="es-AR" dirty="0"/>
              <a:t> </a:t>
            </a:r>
            <a:r>
              <a:rPr lang="es-AR" b="1" dirty="0"/>
              <a:t>[0.293, 0.349]</a:t>
            </a:r>
            <a:r>
              <a:rPr lang="es-A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Dominancia vs modelo actual M3:</a:t>
            </a:r>
            <a:r>
              <a:rPr lang="es-AR" dirty="0"/>
              <a:t> </a:t>
            </a:r>
            <a:r>
              <a:rPr lang="es-AR" b="1" dirty="0"/>
              <a:t>100%</a:t>
            </a:r>
            <a:r>
              <a:rPr lang="es-A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b="1" dirty="0"/>
              <a:t>Dominancia vs M2:</a:t>
            </a:r>
            <a:r>
              <a:rPr lang="es-AR" dirty="0"/>
              <a:t> </a:t>
            </a:r>
            <a:r>
              <a:rPr lang="es-AR" b="1" dirty="0"/>
              <a:t>68.5%</a:t>
            </a:r>
          </a:p>
          <a:p>
            <a:pPr>
              <a:buFont typeface="Arial" panose="020B0604020202020204" pitchFamily="34" charset="0"/>
              <a:buChar char="•"/>
            </a:pPr>
            <a:endParaRPr lang="es-AR" b="1" dirty="0"/>
          </a:p>
          <a:p>
            <a:r>
              <a:rPr lang="es-ES" dirty="0"/>
              <a:t>La decisión se apoya en la ventana operativa 16–18. </a:t>
            </a:r>
          </a:p>
          <a:p>
            <a:r>
              <a:rPr lang="es-ES" dirty="0"/>
              <a:t>M4 tiene la mayor mediana posterior de F1 y supera a M2 con evidencia moderada. </a:t>
            </a:r>
          </a:p>
          <a:p>
            <a:r>
              <a:rPr lang="es-ES" b="1" dirty="0"/>
              <a:t>Supuesto :</a:t>
            </a:r>
            <a:r>
              <a:rPr lang="es-ES" dirty="0"/>
              <a:t> esta recomendación vale si el régimen </a:t>
            </a:r>
            <a:r>
              <a:rPr lang="es-ES" dirty="0" err="1"/>
              <a:t>post-estabilización</a:t>
            </a:r>
            <a:r>
              <a:rPr lang="es-ES" dirty="0"/>
              <a:t> observado en 16–18 persiste en julio.</a:t>
            </a:r>
          </a:p>
          <a:p>
            <a:pPr>
              <a:buFont typeface="Arial" panose="020B0604020202020204" pitchFamily="34" charset="0"/>
              <a:buChar char="•"/>
            </a:pPr>
            <a:endParaRPr lang="es-AR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F093248-734F-8F2E-5125-24EA371D4143}"/>
              </a:ext>
            </a:extLst>
          </p:cNvPr>
          <p:cNvSpPr txBox="1"/>
          <p:nvPr/>
        </p:nvSpPr>
        <p:spPr>
          <a:xfrm>
            <a:off x="9058910" y="5767250"/>
            <a:ext cx="3462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b="1" dirty="0"/>
              <a:t>Alerta sobre segundo régimen</a:t>
            </a:r>
            <a:endParaRPr lang="es-ES" sz="1400" dirty="0"/>
          </a:p>
          <a:p>
            <a:pPr>
              <a:buNone/>
            </a:pPr>
            <a:r>
              <a:rPr lang="es-ES" sz="1400" dirty="0" err="1"/>
              <a:t>Intelligence</a:t>
            </a:r>
            <a:r>
              <a:rPr lang="es-ES" sz="1400" dirty="0"/>
              <a:t> anticipa un posible segundo cambio de régimen asociado a la pérdida de poder discriminativo de </a:t>
            </a:r>
            <a:r>
              <a:rPr lang="es-ES" sz="1400" dirty="0" err="1">
                <a:latin typeface="Courier New" panose="02070309020205020404" pitchFamily="49" charset="0"/>
              </a:rPr>
              <a:t>monto_log</a:t>
            </a:r>
            <a:r>
              <a:rPr lang="es-ES" sz="1400" dirty="0"/>
              <a:t>; por eso M4 es la recomendación inmediata, pero no una solución estructural definitiva.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E90834C-B000-9BFB-6A2C-D45B51379CA3}"/>
              </a:ext>
            </a:extLst>
          </p:cNvPr>
          <p:cNvSpPr txBox="1"/>
          <p:nvPr/>
        </p:nvSpPr>
        <p:spPr>
          <a:xfrm>
            <a:off x="4262713" y="6108653"/>
            <a:ext cx="40640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Además de la recomendación inmediata, se exploró una línea de evolución del sistema basada en </a:t>
            </a:r>
            <a:r>
              <a:rPr lang="es-ES" sz="1200" b="1" dirty="0" err="1"/>
              <a:t>clusterización</a:t>
            </a:r>
            <a:r>
              <a:rPr lang="es-ES" sz="1200" b="1" dirty="0"/>
              <a:t> de fraudes, modelos por tipo, razón de verosimilitudes/LR y </a:t>
            </a:r>
            <a:r>
              <a:rPr lang="es-ES" sz="1200" b="1" dirty="0" err="1"/>
              <a:t>surprise</a:t>
            </a:r>
            <a:r>
              <a:rPr lang="es-ES" sz="1200" b="1" dirty="0"/>
              <a:t> score</a:t>
            </a:r>
            <a:r>
              <a:rPr lang="es-ES" sz="1200" dirty="0"/>
              <a:t>, orientada a detectar transacciones que no encajan en regímenes conocidos.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969581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913</Words>
  <Application>Microsoft Office PowerPoint</Application>
  <PresentationFormat>Panorámica</PresentationFormat>
  <Paragraphs>108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Silvana Contreras</dc:creator>
  <cp:lastModifiedBy>Silvana Contreras</cp:lastModifiedBy>
  <cp:revision>9</cp:revision>
  <dcterms:created xsi:type="dcterms:W3CDTF">2026-06-14T14:25:23Z</dcterms:created>
  <dcterms:modified xsi:type="dcterms:W3CDTF">2026-06-14T18:54:22Z</dcterms:modified>
</cp:coreProperties>
</file>